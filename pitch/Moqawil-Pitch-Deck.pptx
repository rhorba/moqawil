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4D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10312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 i="0">
                <a:solidFill>
                  <a:srgbClr val="FFFFFF"/>
                </a:solidFill>
                <a:latin typeface="Calibri"/>
              </a:rPr>
              <a:t>Moqawil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2971800"/>
            <a:ext cx="121916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3200" b="1" i="0">
                <a:solidFill>
                  <a:srgbClr val="CFE8E5"/>
                </a:solidFill>
                <a:latin typeface="Calibri"/>
              </a:rPr>
              <a:t>مقاول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61188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FFFFFF"/>
                </a:solidFill>
                <a:latin typeface="Calibri"/>
              </a:rPr>
              <a:t>La conformité auto-entrepreneur, sans effort.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06908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B8D8D4"/>
                </a:solidFill>
                <a:latin typeface="Calibri"/>
              </a:rPr>
              <a:t>The compliance tool 400,000 Moroccan freelancers don't have yet.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594360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CC7C2"/>
                </a:solidFill>
                <a:latin typeface="Calibri"/>
              </a:rPr>
              <a:t>Open-source · AGPL-3.0 · FR / دارجة / EN · Démo live : preprod.moqawiil.com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FE8E5"/>
                </a:solidFill>
                <a:latin typeface="Calibri"/>
              </a:rPr>
              <a:t>LE CONSTAT — FRANÇAIS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Être auto-entrepreneur au Maroc, c'est bricoler sa conformité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972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1900">
                <a:solidFill>
                  <a:srgbClr val="1A1A1A"/>
                </a:solidFill>
                <a:latin typeface="Calibri"/>
              </a:rPr>
              <a:t>• ~400 000 auto-entrepreneurs actifs au Maroc (Loi 114-13) — devs freelance, artisans, consultants.</a:t>
            </a:r>
          </a:p>
          <a:p>
            <a:pPr algn="l">
              <a:spcAft>
                <a:spcPts val="1800"/>
              </a:spcAft>
            </a:pPr>
            <a:r>
              <a:rPr sz="1900">
                <a:solidFill>
                  <a:srgbClr val="1A1A1A"/>
                </a:solidFill>
                <a:latin typeface="Calibri"/>
              </a:rPr>
              <a:t>• Le plafond de 80 000 DH par client et par an (Loi de Finances 2023) est LA règle que personne ne suit en temps réel.</a:t>
            </a:r>
          </a:p>
          <a:p>
            <a:pPr algn="l">
              <a:spcAft>
                <a:spcPts val="1800"/>
              </a:spcAft>
            </a:pPr>
            <a:r>
              <a:rPr sz="1900">
                <a:solidFill>
                  <a:srgbClr val="1A1A1A"/>
                </a:solidFill>
                <a:latin typeface="Calibri"/>
              </a:rPr>
              <a:t>• Le dépasser sans le savoir : le client retient 30% à la source sur le surplus — une perte sèche pour l'auto-entrepreneur.</a:t>
            </a:r>
          </a:p>
          <a:p>
            <a:pPr algn="l">
              <a:spcAft>
                <a:spcPts val="1800"/>
              </a:spcAft>
            </a:pPr>
            <a:r>
              <a:rPr sz="1900">
                <a:solidFill>
                  <a:srgbClr val="1A1A1A"/>
                </a:solidFill>
                <a:latin typeface="Calibri"/>
              </a:rPr>
              <a:t>• La déclaration trimestrielle : un formulaire à remplir à la main, imprimé, signé, déposé physiquement à Barid Al-Maghrib.</a:t>
            </a:r>
          </a:p>
          <a:p>
            <a:pPr algn="l">
              <a:spcAft>
                <a:spcPts val="1800"/>
              </a:spcAft>
            </a:pPr>
            <a:r>
              <a:rPr sz="1900">
                <a:solidFill>
                  <a:srgbClr val="1A1A1A"/>
                </a:solidFill>
                <a:latin typeface="Calibri"/>
              </a:rPr>
              <a:t>• Une facture 100% conforme à l'article 145 du CGI demande une expertise que peu de freelances ont le temps d'acquérir.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43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1">
                <a:solidFill>
                  <a:srgbClr val="0A4D47"/>
                </a:solidFill>
                <a:latin typeface="Calibri"/>
              </a:rPr>
              <a:t>Résultat : des freelances compétents qui perdent de l'argent sur des règles qu'ils ne voient jamais venir.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Calibri"/>
              </a:rPr>
              <a:t>Moqawil — Démo live : preprod.moqawiil.com · github.com/moqawil/moqawil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FE8E5"/>
                </a:solidFill>
                <a:latin typeface="Calibri"/>
              </a:rPr>
              <a:t>الوضعية — بالدارجة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الأوطو-إنترپرونور فالمغرب: الكونفورميتي صعيبة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16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كاين حوالي 400 ألف أوطو-إنترپرونور فالمغرب — مبرمجين فريلانسرز، صنايعية، كونسولطون. •</a:t>
            </a:r>
          </a:p>
          <a:p>
            <a:pPr algn="r" rtl="1">
              <a:spcAft>
                <a:spcPts val="16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الپلافون ديال 80 ألف درهم فالعام لكل كليان — حتى واحد ما كيتبعو live. •</a:t>
            </a:r>
          </a:p>
          <a:p>
            <a:pPr algn="r" rtl="1">
              <a:spcAft>
                <a:spcPts val="16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إلا تجاوزتيه من غير ما تعرف، الكليان ديالك غادي يقتطع ليك 30% من الفلوس — خسارة راسك فيها. •</a:t>
            </a:r>
          </a:p>
          <a:p>
            <a:pPr algn="r" rtl="1">
              <a:spcAft>
                <a:spcPts val="16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كل تريمستر خاصك تعمر فورمولير بيدك، تطبعو، توقعو، وتمشي بيه للبنك. •</a:t>
            </a:r>
          </a:p>
          <a:p>
            <a:pPr algn="r" rtl="1">
              <a:spcAft>
                <a:spcPts val="16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باش تدير فاكتور مطابقة للقانون (المادة 145)، خاصك تخبرة ماعندكش الوقت باش تتعلمها. 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43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500" b="1" i="1">
                <a:solidFill>
                  <a:srgbClr val="0A4D47"/>
                </a:solidFill>
                <a:latin typeface="Calibri"/>
              </a:rPr>
              <a:t>النتيجة: ناس ماهرين فالخدمة ديالهم، كيخسرو الفلوس على قوانين ما شافوهاش جايين.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Calibri"/>
              </a:rPr>
              <a:t>Moqawil — Démo live : preprod.moqawiil.com · github.com/moqawil/moqawil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FE8E5"/>
                </a:solidFill>
                <a:latin typeface="Calibri"/>
              </a:rPr>
              <a:t>THE OPPORTUNITY — ENGLISH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A 400,000-person market with zero purpose-built tool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303520" cy="1828800"/>
          </a:xfrm>
          <a:prstGeom prst="roundRect">
            <a:avLst/>
          </a:prstGeom>
          <a:solidFill>
            <a:srgbClr val="F2F2F0"/>
          </a:solidFill>
          <a:ln w="1905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000" b="1">
                <a:solidFill>
                  <a:srgbClr val="0F766E"/>
                </a:solidFill>
              </a:rPr>
              <a:t>400,000+</a:t>
            </a:r>
          </a:p>
          <a:p>
            <a:pPr algn="ctr"/>
            <a:r>
              <a:rPr sz="1400">
                <a:solidFill>
                  <a:srgbClr val="1A1A1A"/>
                </a:solidFill>
              </a:rPr>
              <a:t>active auto-entrepreneurs in Morocco (2026)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59" y="1737360"/>
            <a:ext cx="5303520" cy="1828800"/>
          </a:xfrm>
          <a:prstGeom prst="roundRect">
            <a:avLst/>
          </a:prstGeom>
          <a:solidFill>
            <a:srgbClr val="F2F2F0"/>
          </a:solidFill>
          <a:ln w="1905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000" b="1">
                <a:solidFill>
                  <a:srgbClr val="0F766E"/>
                </a:solidFill>
              </a:rPr>
              <a:t>0</a:t>
            </a:r>
          </a:p>
          <a:p>
            <a:pPr algn="ctr"/>
            <a:r>
              <a:rPr sz="1400">
                <a:solidFill>
                  <a:srgbClr val="1A1A1A"/>
                </a:solidFill>
              </a:rPr>
              <a:t>competitors that track the 80K MAD per-client cap live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931920"/>
            <a:ext cx="5303520" cy="1828800"/>
          </a:xfrm>
          <a:prstGeom prst="roundRect">
            <a:avLst/>
          </a:prstGeom>
          <a:solidFill>
            <a:srgbClr val="F2F2F0"/>
          </a:solidFill>
          <a:ln w="1905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000" b="1">
                <a:solidFill>
                  <a:srgbClr val="0F766E"/>
                </a:solidFill>
              </a:rPr>
              <a:t>0</a:t>
            </a:r>
          </a:p>
          <a:p>
            <a:pPr algn="ctr"/>
            <a:r>
              <a:rPr sz="1400">
                <a:solidFill>
                  <a:srgbClr val="1A1A1A"/>
                </a:solidFill>
              </a:rPr>
              <a:t>competitors that generate the quarterly declaration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59" y="3931920"/>
            <a:ext cx="5303520" cy="1828800"/>
          </a:xfrm>
          <a:prstGeom prst="roundRect">
            <a:avLst/>
          </a:prstGeom>
          <a:solidFill>
            <a:srgbClr val="F2F2F0"/>
          </a:solidFill>
          <a:ln w="1905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000" b="1">
                <a:solidFill>
                  <a:srgbClr val="0F766E"/>
                </a:solidFill>
              </a:rPr>
              <a:t>0</a:t>
            </a:r>
          </a:p>
          <a:p>
            <a:pPr algn="ctr"/>
            <a:r>
              <a:rPr sz="1400">
                <a:solidFill>
                  <a:srgbClr val="1A1A1A"/>
                </a:solidFill>
              </a:rPr>
              <a:t>open-source options on the market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Calibri"/>
              </a:rPr>
              <a:t>Moqawil — Démo live : preprod.moqawiil.com · github.com/moqawil/moqawil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FE8E5"/>
                </a:solidFill>
                <a:latin typeface="Calibri"/>
              </a:rPr>
              <a:t>LA FONCTIONNALITÉ CLÉE — FRANÇAIS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Le plafond de 80 000 DH : notre différenciateur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3566160" cy="2103120"/>
          </a:xfrm>
          <a:prstGeom prst="roundRect">
            <a:avLst/>
          </a:prstGeom>
          <a:solidFill>
            <a:srgbClr val="1E8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FFFFFF"/>
                </a:solidFill>
              </a:rPr>
              <a:t>SÛR</a:t>
            </a:r>
          </a:p>
          <a:p>
            <a:pPr algn="ctr"/>
            <a:r>
              <a:rPr sz="1300">
                <a:solidFill>
                  <a:srgbClr val="FFFFFF"/>
                </a:solidFill>
              </a:rPr>
              <a:t>0–69% du plafond</a:t>
            </a:r>
          </a:p>
          <a:p>
            <a:pPr algn="ctr">
              <a:spcBef>
                <a:spcPts val="800"/>
              </a:spcBef>
            </a:pPr>
            <a:r>
              <a:rPr sz="1200" i="1">
                <a:solidFill>
                  <a:srgbClr val="FFFFFF"/>
                </a:solidFill>
              </a:rPr>
              <a:t>Rien à signaler.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645920"/>
            <a:ext cx="3566160" cy="2103120"/>
          </a:xfrm>
          <a:prstGeom prst="round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FFFFFF"/>
                </a:solidFill>
              </a:rPr>
              <a:t>ATTENTION</a:t>
            </a:r>
          </a:p>
          <a:p>
            <a:pPr algn="ctr"/>
            <a:r>
              <a:rPr sz="1300">
                <a:solidFill>
                  <a:srgbClr val="FFFFFF"/>
                </a:solidFill>
              </a:rPr>
              <a:t>70–99% du plafond</a:t>
            </a:r>
          </a:p>
          <a:p>
            <a:pPr algn="ctr">
              <a:spcBef>
                <a:spcPts val="800"/>
              </a:spcBef>
            </a:pPr>
            <a:r>
              <a:rPr sz="1200" i="1">
                <a:solidFill>
                  <a:srgbClr val="FFFFFF"/>
                </a:solidFill>
              </a:rPr>
              <a:t>Au-delà de 80 000 DH, retenue de 30% pour votre client.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60" y="1645920"/>
            <a:ext cx="3566160" cy="2103120"/>
          </a:xfrm>
          <a:prstGeom prst="roundRect">
            <a:avLst/>
          </a:prstGeom>
          <a:solidFill>
            <a:srgbClr val="C03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FFFFFF"/>
                </a:solidFill>
              </a:rPr>
              <a:t>DÉPASSÉ</a:t>
            </a:r>
          </a:p>
          <a:p>
            <a:pPr algn="ctr"/>
            <a:r>
              <a:rPr sz="1300">
                <a:solidFill>
                  <a:srgbClr val="FFFFFF"/>
                </a:solidFill>
              </a:rPr>
              <a:t>100%+ du plafond</a:t>
            </a:r>
          </a:p>
          <a:p>
            <a:pPr algn="ctr">
              <a:spcBef>
                <a:spcPts val="800"/>
              </a:spcBef>
            </a:pPr>
            <a:r>
              <a:rPr sz="1200" i="1">
                <a:solidFill>
                  <a:srgbClr val="FFFFFF"/>
                </a:solidFill>
              </a:rPr>
              <a:t>Dialogue de confirmation bloquant avant toute facturation.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114800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1A1A"/>
                </a:solidFill>
                <a:latin typeface="Calibri"/>
              </a:rPr>
              <a:t>Toutes les autres solutions du marché ignorent complètement cette règle. Moqawil l'affiche partout où un client apparaît : liste clients, fiche client, création de facture, tableau de bord.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Calibri"/>
              </a:rPr>
              <a:t>Moqawil — Démo live : preprod.moqawiil.com · github.com/moqawil/moqawil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FE8E5"/>
                </a:solidFill>
                <a:latin typeface="Calibri"/>
              </a:rPr>
              <a:t>COMPETITIVE BENCHMARK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Moqawil vs. the market (2026)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554480"/>
          <a:ext cx="1106424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/>
                <a:gridCol w="1920240"/>
                <a:gridCol w="1920240"/>
                <a:gridCol w="1920240"/>
                <a:gridCol w="1920240"/>
              </a:tblGrid>
              <a:tr h="52832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</a:rPr>
                        <a:t/>
                      </a:r>
                    </a:p>
                  </a:txBody>
                  <a:tcPr anchor="ctr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Moqawil</a:t>
                      </a:r>
                    </a:p>
                  </a:txBody>
                  <a:tcPr anchor="ctr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Hisab.ma</a:t>
                      </a:r>
                    </a:p>
                  </a:txBody>
                  <a:tcPr anchor="ctr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Auto-Entrepreneur.ma</a:t>
                      </a:r>
                    </a:p>
                  </a:txBody>
                  <a:tcPr anchor="ctr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ClicPaie.ma</a:t>
                      </a:r>
                    </a:p>
                  </a:txBody>
                  <a:tcPr anchor="ctr">
                    <a:solidFill>
                      <a:srgbClr val="0F766E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</a:rPr>
                        <a:t>Open source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A4D47"/>
                          </a:solidFill>
                        </a:rPr>
                        <a:t>✓ AGPL-3.0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55555"/>
                          </a:solidFill>
                        </a:rPr>
                        <a:t>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55555"/>
                          </a:solidFill>
                        </a:rPr>
                        <a:t>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55555"/>
                          </a:solidFill>
                        </a:rPr>
                        <a:t>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</a:rPr>
                        <a:t>Price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A4D47"/>
                          </a:solidFill>
                        </a:rPr>
                        <a:t>Free (self-host)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</a:rPr>
                        <a:t>149+ MAD/mo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55555"/>
                          </a:solidFill>
                        </a:rPr>
                        <a:t>N/A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</a:rPr>
                        <a:t>Templates only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</a:rPr>
                        <a:t>80K per-client cap tracker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A4D47"/>
                          </a:solidFill>
                        </a:rPr>
                        <a:t>✓ live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55555"/>
                          </a:solidFill>
                        </a:rPr>
                        <a:t>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55555"/>
                          </a:solidFill>
                        </a:rPr>
                        <a:t>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55555"/>
                          </a:solidFill>
                        </a:rPr>
                        <a:t>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</a:rPr>
                        <a:t>Quarterly declaration generator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A4D47"/>
                          </a:solidFill>
                        </a:rPr>
                        <a:t>✓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55555"/>
                          </a:solidFill>
                        </a:rPr>
                        <a:t>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55555"/>
                          </a:solidFill>
                        </a:rPr>
                        <a:t>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55555"/>
                          </a:solidFill>
                        </a:rPr>
                        <a:t>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</a:rPr>
                        <a:t>Annual threshold alerts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A4D47"/>
                          </a:solidFill>
                        </a:rPr>
                        <a:t>✓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55555"/>
                          </a:solidFill>
                        </a:rPr>
                        <a:t>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55555"/>
                          </a:solidFill>
                        </a:rPr>
                        <a:t>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55555"/>
                          </a:solidFill>
                        </a:rPr>
                        <a:t>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</a:rPr>
                        <a:t>Self-hostable (Docker)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A4D47"/>
                          </a:solidFill>
                        </a:rPr>
                        <a:t>✓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</a:rPr>
                        <a:t>✗ SaaS only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55555"/>
                          </a:solidFill>
                        </a:rPr>
                        <a:t>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55555"/>
                          </a:solidFill>
                        </a:rPr>
                        <a:t>N/A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</a:rPr>
                        <a:t>Bilingual FR/AR RTL UI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A4D47"/>
                          </a:solidFill>
                        </a:rPr>
                        <a:t>✓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55555"/>
                          </a:solidFill>
                        </a:rPr>
                        <a:t>?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55555"/>
                          </a:solidFill>
                        </a:rPr>
                        <a:t>?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55555"/>
                          </a:solidFill>
                        </a:rPr>
                        <a:t>?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</a:rPr>
                        <a:t>Foreign invoicing + BAM rate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A4D47"/>
                          </a:solidFill>
                        </a:rPr>
                        <a:t>✓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55555"/>
                          </a:solidFill>
                        </a:rPr>
                        <a:t>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55555"/>
                          </a:solidFill>
                        </a:rPr>
                        <a:t>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55555"/>
                          </a:solidFill>
                        </a:rPr>
                        <a:t>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6446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Calibri"/>
              </a:rPr>
              <a:t>Moqawil — Démo live : preprod.moqawiil.com · github.com/moqawil/moqawil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FE8E5"/>
                </a:solidFill>
                <a:latin typeface="Calibri"/>
              </a:rPr>
              <a:t>PRODUCT TOUR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Bilingual by design — FR ↔ AR (RTL) in one click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39" y="1554479"/>
            <a:ext cx="5120642" cy="2880362"/>
          </a:xfrm>
          <a:prstGeom prst="rect">
            <a:avLst/>
          </a:prstGeom>
          <a:noFill/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35039" y="1554479"/>
            <a:ext cx="5120642" cy="2880362"/>
          </a:xfrm>
          <a:prstGeom prst="rect">
            <a:avLst/>
          </a:prstGeom>
          <a:noFill/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58064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55555"/>
                </a:solidFill>
                <a:latin typeface="Calibri"/>
              </a:rPr>
              <a:t>Tableau de bord — Français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58064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1400" b="0" i="0">
                <a:solidFill>
                  <a:srgbClr val="555555"/>
                </a:solidFill>
                <a:latin typeface="Calibri"/>
              </a:rPr>
              <a:t>العملاء — بالعربية (RTL)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46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Calibri"/>
              </a:rPr>
              <a:t>Moqawil — Démo live : preprod.moqawiil.com · github.com/moqawil/moqawil</a:t>
            </a:r>
          </a:p>
        </p:txBody>
      </p:sp>
      <p:pic>
        <p:nvPicPr>
          <p:cNvPr id="12" name="Picture 11" descr="slide7_lef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1554480"/>
            <a:ext cx="5120640" cy="2880360"/>
          </a:xfrm>
          <a:prstGeom prst="rect">
            <a:avLst/>
          </a:prstGeom>
        </p:spPr>
      </p:pic>
      <p:pic>
        <p:nvPicPr>
          <p:cNvPr id="13" name="Picture 12" descr="slide7_righ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35040" y="1554480"/>
            <a:ext cx="512064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FE8E5"/>
                </a:solidFill>
                <a:latin typeface="Calibri"/>
              </a:rPr>
              <a:t>PRODUCT TOUR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The 80K cap, visible everywhere — and enforced when it matters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39" y="1554479"/>
            <a:ext cx="5120642" cy="2880362"/>
          </a:xfrm>
          <a:prstGeom prst="rect">
            <a:avLst/>
          </a:prstGeom>
          <a:noFill/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35039" y="1554479"/>
            <a:ext cx="5120642" cy="2880362"/>
          </a:xfrm>
          <a:prstGeom prst="rect">
            <a:avLst/>
          </a:prstGeom>
          <a:noFill/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58064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555555"/>
                </a:solidFill>
                <a:latin typeface="Calibri"/>
              </a:rPr>
              <a:t>Liste clients — badge de plafond en temps réel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58064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555555"/>
                </a:solidFill>
                <a:latin typeface="Calibri"/>
              </a:rPr>
              <a:t>Dialogue bloquant en cas de dépassement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46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Calibri"/>
              </a:rPr>
              <a:t>Moqawil — Démo live : preprod.moqawiil.com · github.com/moqawil/moqawil</a:t>
            </a:r>
          </a:p>
        </p:txBody>
      </p:sp>
      <p:pic>
        <p:nvPicPr>
          <p:cNvPr id="12" name="Picture 11" descr="slide8_lef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554480"/>
            <a:ext cx="5120640" cy="2880360"/>
          </a:xfrm>
          <a:prstGeom prst="rect">
            <a:avLst/>
          </a:prstGeom>
        </p:spPr>
      </p:pic>
      <p:pic>
        <p:nvPicPr>
          <p:cNvPr id="13" name="Picture 12" descr="slide8_righ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5040" y="1554480"/>
            <a:ext cx="512064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FE8E5"/>
                </a:solidFill>
                <a:latin typeface="Calibri"/>
              </a:rPr>
              <a:t>PRODUCT TOUR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From invoice to quarterly declaration, without leaving the browser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39" y="1554479"/>
            <a:ext cx="5120642" cy="2880362"/>
          </a:xfrm>
          <a:prstGeom prst="rect">
            <a:avLst/>
          </a:prstGeom>
          <a:noFill/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35039" y="1554479"/>
            <a:ext cx="5120642" cy="2880362"/>
          </a:xfrm>
          <a:prstGeom prst="rect">
            <a:avLst/>
          </a:prstGeom>
          <a:noFill/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58064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555555"/>
                </a:solidFill>
                <a:latin typeface="Calibri"/>
              </a:rPr>
              <a:t>Création de facture conforme (Article 145)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58064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555555"/>
                </a:solidFill>
                <a:latin typeface="Calibri"/>
              </a:rPr>
              <a:t>Déclaration trimestrielle pré-remplie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46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Calibri"/>
              </a:rPr>
              <a:t>Moqawil — Démo live : preprod.moqawiil.com · github.com/moqawil/moqawil</a:t>
            </a:r>
          </a:p>
        </p:txBody>
      </p:sp>
      <p:pic>
        <p:nvPicPr>
          <p:cNvPr id="12" name="Picture 11" descr="slide9_lef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554480"/>
            <a:ext cx="5120640" cy="2880360"/>
          </a:xfrm>
          <a:prstGeom prst="rect">
            <a:avLst/>
          </a:prstGeom>
        </p:spPr>
      </p:pic>
      <p:pic>
        <p:nvPicPr>
          <p:cNvPr id="13" name="Picture 12" descr="slide9_righ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5040" y="1554480"/>
            <a:ext cx="512064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FE8E5"/>
                </a:solidFill>
                <a:latin typeface="Calibri"/>
              </a:rPr>
              <a:t>FOR THE ENGINEER IN THE ROOM — ENGLISH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A stack you already know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Next.js 15 — App Router, Server Actions</a:t>
            </a:r>
          </a:p>
          <a:p>
            <a:pPr algn="l">
              <a:spcAft>
                <a:spcPts val="16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TypeScript, strict mode everywhere</a:t>
            </a:r>
          </a:p>
          <a:p>
            <a:pPr algn="l">
              <a:spcAft>
                <a:spcPts val="16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PostgreSQL 16 + Drizzle ORM</a:t>
            </a:r>
          </a:p>
          <a:p>
            <a:pPr algn="l">
              <a:spcAft>
                <a:spcPts val="16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Auth.js v5 (Google OAuth + magic link)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737360"/>
            <a:ext cx="5394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Tailwind CSS v4 + shadcn/ui</a:t>
            </a:r>
          </a:p>
          <a:p>
            <a:pPr algn="l">
              <a:spcAft>
                <a:spcPts val="16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Playwright (e2e) + Vitest (unit), Biome (lint)</a:t>
            </a:r>
          </a:p>
          <a:p>
            <a:pPr algn="l">
              <a:spcAft>
                <a:spcPts val="16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Docker Compose + Caddy — one command to self-host</a:t>
            </a:r>
          </a:p>
          <a:p>
            <a:pPr algn="l">
              <a:spcAft>
                <a:spcPts val="16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CI: lint, typecheck, unit, Semgrep, Trivy, Gitleaks, e2e — all green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7607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0A4D47"/>
                </a:solidFill>
                <a:latin typeface="Calibri"/>
              </a:rPr>
              <a:t>The tax-rule engine ships separately under Apache-2.0 — pure functions, zero I/O, so any Moroccan dev can embed it in their own tool.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Calibri"/>
              </a:rPr>
              <a:t>Moqawil — Démo live : preprod.moqawiil.com · github.com/moqawil/moqawil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FE8E5"/>
                </a:solidFill>
                <a:latin typeface="Calibri"/>
              </a:rPr>
              <a:t>MODÈLE — FR / 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Open-core, pas open-washing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Application (apps/web) : AGPL-3.0 — gratuite, auto-hébergeable, pour toujours. Toute modification distribuée doit rester ouverte.</a:t>
            </a:r>
          </a:p>
          <a:p>
            <a:pPr algn="l">
              <a:spcAft>
                <a:spcPts val="1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Moteur fiscal (packages/tax-engine) : Apache-2.0 — librement embarquable par d'autres outils marocains. C'est notre carte de visite auprès des devs.</a:t>
            </a:r>
          </a:p>
          <a:p>
            <a:pPr algn="l">
              <a:spcAft>
                <a:spcPts val="1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Cloud managé (post-lancement) : hébergement clé-en-main, sauvegardes, support — payant, optionnel, jamais requis pour utiliser le produit. Infrastructure prête et déployée en préproduction — démo live sur preprod.moqawiil.com (Sprint 13) ; ouverture publique après revue légale et audit sécurité.</a:t>
            </a:r>
          </a:p>
          <a:p>
            <a:pPr algn="l">
              <a:spcAft>
                <a:spcPts val="1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EN — This is the same model that made GitLab, Mattermost and Supabase durable businesses: give away the core, monetize the convenience.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Calibri"/>
              </a:rPr>
              <a:t>Moqawil — Démo live : preprod.moqawiil.com · github.com/moqawil/moqawil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FE8E5"/>
                </a:solidFill>
                <a:latin typeface="Calibri"/>
              </a:rPr>
              <a:t>علاش مفتوح المصدر؟ — بالدارجة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الثقة كتبنى بالكود، ماشي بالمصداقية غير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10972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1800"/>
              </a:spcAft>
            </a:pPr>
            <a:r>
              <a:rPr sz="1900">
                <a:solidFill>
                  <a:srgbClr val="1A1A1A"/>
                </a:solidFill>
                <a:latin typeface="Calibri"/>
              </a:rPr>
              <a:t>الكود ديال مقاول مفتوح لكلشي — أي واحد يقدر يشوفو، يڤيريفيه، حتى يبدلو. •</a:t>
            </a:r>
          </a:p>
          <a:p>
            <a:pPr algn="r" rtl="1">
              <a:spcAft>
                <a:spcPts val="1800"/>
              </a:spcAft>
            </a:pPr>
            <a:r>
              <a:rPr sz="1900">
                <a:solidFill>
                  <a:srgbClr val="1A1A1A"/>
                </a:solidFill>
                <a:latin typeface="Calibri"/>
              </a:rPr>
              <a:t>ماكاينش 'تراست مي' — كاين الكود قدامك، خدمة بلا سر. •</a:t>
            </a:r>
          </a:p>
          <a:p>
            <a:pPr algn="r" rtl="1">
              <a:spcAft>
                <a:spcPts val="1800"/>
              </a:spcAft>
            </a:pPr>
            <a:r>
              <a:rPr sz="1900">
                <a:solidFill>
                  <a:srgbClr val="1A1A1A"/>
                </a:solidFill>
                <a:latin typeface="Calibri"/>
              </a:rPr>
              <a:t>غادي يبقا فري للأبد — حتى إلا بغينا نديرو خدمة كلاود، الأساس ديال التطبيق ما غاديش يتسد. •</a:t>
            </a:r>
          </a:p>
          <a:p>
            <a:pPr algn="r" rtl="1">
              <a:spcAft>
                <a:spcPts val="1800"/>
              </a:spcAft>
            </a:pPr>
            <a:r>
              <a:rPr sz="1900">
                <a:solidFill>
                  <a:srgbClr val="1A1A1A"/>
                </a:solidFill>
                <a:latin typeface="Calibri"/>
              </a:rPr>
              <a:t>هاد الموديل خدم مزيان مع مشاريع كبيرة بحال GitLab و Supabase — عطي الأساس فري، بيع الراحة. 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Calibri"/>
              </a:rPr>
              <a:t>Moqawil — Démo live : preprod.moqawiil.com · github.com/moqawil/moqawil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FE8E5"/>
                </a:solidFill>
                <a:latin typeface="Calibri"/>
              </a:rPr>
              <a:t>ROADMAP — ENGLISH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Shipped, and what's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>
                <a:solidFill>
                  <a:srgbClr val="1E8A4C"/>
                </a:solidFill>
                <a:latin typeface="Calibri"/>
              </a:rPr>
              <a:t>• v0.2 (shipped): compliant invoicing, live 80K cap tracker, annual threshold alerts, quarterly declaration generator, devis with one-click invoice conversion, DGI-ready UBL 2.1 e-invoicing export, accountant multi-client read-only dashboard, bilingual FR/AR RTL UI (real content translation, not just layout), one-command Docker self-host. Since v0.2: SaaS-readiness hardening — full IDOR re-audit, sign-in rate limiting, a health-check endpoint, automated backups, and a public FR/AR landing page.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01752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Blocked on external access, not engineering work: full DGI/xHub e-invoicing clearance submission and Barid eSign signing integration both require sandbox/account access from the tax authority.</a:t>
            </a:r>
          </a:p>
          <a:p>
            <a:pPr algn="l">
              <a:spcAft>
                <a:spcPts val="14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Sprint 12 — launch readiness (shipped 2026-08-12): ToS/Privacy Policy drafts, CNDP data-controller registration checklist, pentest scope doc + security posture summary, full deployment runbook, 3 bilingual SEO blog posts live. What remains is owner-only, not engineering: sign ToS/Privacy with a lawyer, file the CNDP registration, hire a pentest vendor, and decide on the 5 drafted announcement posts. Self-host works today regardless.</a:t>
            </a:r>
          </a:p>
          <a:p>
            <a:pPr algn="l">
              <a:spcAft>
                <a:spcPts val="14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Sprint 13 (shipped): CI/CD pipeline to a live preprod deploy on a real VPS + domain — try it yourself at preprod.moqawiil.com.</a:t>
            </a:r>
          </a:p>
          <a:p>
            <a:pPr algn="l">
              <a:spcAft>
                <a:spcPts val="14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Distribution: r/Maroc, r/MoroccanDevs, “Auto-entrepreneurs Maroc” FB group (~90K members), chartered-accountant endorsements, Show HN.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Calibri"/>
              </a:rPr>
              <a:t>Moqawil — Démo live : preprod.moqawiil.com · github.com/moqawil/moqawil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4D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57200"/>
            <a:ext cx="121916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The Ask · La demande · الطلب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10698480" cy="1371600"/>
          </a:xfrm>
          <a:prstGeom prst="roundRect">
            <a:avLst/>
          </a:prstGeom>
          <a:solidFill>
            <a:srgbClr val="145C56"/>
          </a:solidFill>
          <a:ln w="12700">
            <a:solidFill>
              <a:srgbClr val="2A8A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l"/>
            <a:r>
              <a:rPr sz="1800">
                <a:solidFill>
                  <a:srgbClr val="FFFFFF"/>
                </a:solidFill>
              </a:rPr>
              <a:t>[FR]  Utilise Moqawil si tu factures en freelance — essaie la démo live sur preprod.moqawiil.com.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3246120"/>
            <a:ext cx="10698480" cy="1371600"/>
          </a:xfrm>
          <a:prstGeom prst="roundRect">
            <a:avLst/>
          </a:prstGeom>
          <a:solidFill>
            <a:srgbClr val="145C56"/>
          </a:solidFill>
          <a:ln w="12700">
            <a:solidFill>
              <a:srgbClr val="2A8A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l"/>
            <a:r>
              <a:rPr sz="1800">
                <a:solidFill>
                  <a:srgbClr val="FFFFFF"/>
                </a:solidFill>
              </a:rPr>
              <a:t>[EN]  Contribute — it's your stack (TypeScript, Next.js). PRs, issues, reviews all welcome.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846320"/>
            <a:ext cx="10698480" cy="1371600"/>
          </a:xfrm>
          <a:prstGeom prst="roundRect">
            <a:avLst/>
          </a:prstGeom>
          <a:solidFill>
            <a:srgbClr val="145C56"/>
          </a:solidFill>
          <a:ln w="12700">
            <a:solidFill>
              <a:srgbClr val="2A8A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r" rtl="1"/>
            <a:r>
              <a:rPr sz="1800">
                <a:solidFill>
                  <a:srgbClr val="FFFFFF"/>
                </a:solidFill>
              </a:rPr>
              <a:t>عرفي بيه صحابك الفريلانسرز، ولا كونتريبيوطي فالكود — نتا مبرمجة، هاد الدومين ديالك.  [دارجة]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Calibri"/>
              </a:rPr>
              <a:t>Moqawil — preprod.moqawiil.com · github.com/moqawil/moqawil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4D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377440"/>
            <a:ext cx="121916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Calibri"/>
              </a:rPr>
              <a:t>Chokrane. Merci. Thank you.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29184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2400" b="0" i="0">
                <a:solidFill>
                  <a:srgbClr val="CFE8E5"/>
                </a:solidFill>
                <a:latin typeface="Calibri"/>
              </a:rPr>
              <a:t>شكراً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411480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B8D8D4"/>
                </a:solidFill>
                <a:latin typeface="Calibri"/>
              </a:rPr>
              <a:t>github.com/moqawil/moqawil  ·  preprod.moqawiil.com  ·  AGPL-3.0  ·  Built for the ~400,000 Moroccans who deserve better tools.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