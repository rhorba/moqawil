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Moqawil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9718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 i="0">
                <a:solidFill>
                  <a:srgbClr val="CFE8E5"/>
                </a:solidFill>
                <a:latin typeface="Calibri"/>
              </a:rPr>
              <a:t>مقاول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La conformité auto-entrepreneur, sans effort.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The compliance tool 400,000 Moroccan freelancers don't have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CC7C2"/>
                </a:solidFill>
                <a:latin typeface="Calibri"/>
              </a:rPr>
              <a:t>Open-source · AGPL-3.0 · FR / دارجة / 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LE CONSTAT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Être auto-entrepreneur au Maroc, c'est bricoler sa conformité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~400 000 auto-entrepreneurs actifs au Maroc (Loi 114-13) — devs freelance, artisans, consultants.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plafond de 80 000 DH par client et par an (Loi de Finances 2023) est LA règle que personne ne suit en temps réel.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Le dépasser sans le savoir : le client retient 30% à la source sur le surplus — une perte sèche pour l'auto-entrepreneur.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La déclaration trimestrielle : un formulaire à remplir à la main, imprimé, signé, déposé physiquement à Barid Al-Maghrib.</a:t>
            </a:r>
          </a:p>
          <a:p>
            <a:pPr algn="l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• Une facture 100% conforme à l'article 145 du CGI demande une expertise que peu de freelances ont le temps d'acquérir.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1">
                <a:solidFill>
                  <a:srgbClr val="0A4D47"/>
                </a:solidFill>
                <a:latin typeface="Calibri"/>
              </a:rPr>
              <a:t>Résultat : des freelances compétents qui perdent de l'argent sur des règles qu'ils ne voient jamais venir.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الوضعية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الأوطو-إنترپرونور فالمغرب: الكونفورميتي صعيبة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كاين حوالي 400 ألف أوطو-إنترپرونور فالمغرب — مبرمجين فريلانسرز، صنايعية، كونسولطون.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الپلافون ديال 80 ألف درهم فالعام لكل كليان — حتى واحد ما كيتبعو live.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إلا تجاوزتيه من غير ما تعرف، الكليان ديالك غادي يقتطع ليك 30% من الفلوس — خسارة راسك فيها.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كل تريمستر خاصك تعمر فورمولير بيدك، تطبعو، توقعو، وتمشي بيه للبنك. •</a:t>
            </a:r>
          </a:p>
          <a:p>
            <a:pPr algn="r" rtl="1">
              <a:spcAft>
                <a:spcPts val="16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باش تدير فاكتور مطابقة للقانون (المادة 145)، خاصك تخبرة ماعندكش الوقت باش تتعلمها.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1" i="1">
                <a:solidFill>
                  <a:srgbClr val="0A4D47"/>
                </a:solidFill>
                <a:latin typeface="Calibri"/>
              </a:rPr>
              <a:t>النتيجة: ناس ماهرين فالخدمة ديالهم، كيخسرو الفلوس على قوانين ما شافوهاش جايين.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THE OPPORTUNITY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400,000-person market with zero purpose-built tool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400,000+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active auto-entrepreneurs in Morocco (2026)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59" y="173736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track the 80K MAD per-client cap live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competitors that generate the quarterly declaration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59" y="3931920"/>
            <a:ext cx="5303520" cy="1828800"/>
          </a:xfrm>
          <a:prstGeom prst="roundRect">
            <a:avLst/>
          </a:prstGeom>
          <a:solidFill>
            <a:srgbClr val="F2F2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0F766E"/>
                </a:solidFill>
              </a:rPr>
              <a:t>0</a:t>
            </a:r>
          </a:p>
          <a:p>
            <a:pPr algn="ctr"/>
            <a:r>
              <a:rPr sz="1400">
                <a:solidFill>
                  <a:srgbClr val="1A1A1A"/>
                </a:solidFill>
              </a:rPr>
              <a:t>open-source options on the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LA FONCTIONNALITÉ CLÉE —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Le plafond de 80 000 DH : notre différenciateur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103120"/>
          </a:xfrm>
          <a:prstGeom prst="roundRect">
            <a:avLst/>
          </a:prstGeom>
          <a:solidFill>
            <a:srgbClr val="1E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SÛR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0–69%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Rien à signaler.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566160" cy="2103120"/>
          </a:xfrm>
          <a:prstGeom prst="round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ATTENTION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70–99%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Au-delà de 80 000 DH, retenue de 30% pour votre client.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645920"/>
            <a:ext cx="3566160" cy="2103120"/>
          </a:xfrm>
          <a:prstGeom prst="roundRect">
            <a:avLst/>
          </a:prstGeom>
          <a:solidFill>
            <a:srgbClr val="C0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</a:rPr>
              <a:t>DÉPASSÉ</a:t>
            </a:r>
          </a:p>
          <a:p>
            <a:pPr algn="ctr"/>
            <a:r>
              <a:rPr sz="1300">
                <a:solidFill>
                  <a:srgbClr val="FFFFFF"/>
                </a:solidFill>
              </a:rPr>
              <a:t>100%+ du plafond</a:t>
            </a:r>
          </a:p>
          <a:p>
            <a:pPr algn="ctr">
              <a:spcBef>
                <a:spcPts val="800"/>
              </a:spcBef>
            </a:pPr>
            <a:r>
              <a:rPr sz="1200" i="1">
                <a:solidFill>
                  <a:srgbClr val="FFFFFF"/>
                </a:solidFill>
              </a:rPr>
              <a:t>Dialogue de confirmation bloquant avant toute facturation.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  <a:latin typeface="Calibri"/>
              </a:rPr>
              <a:t>Toutes les autres solutions du marché ignorent complètement cette règle. Moqawil l'affiche partout où un client apparaît : liste clients, fiche client, création de facture, tableau de bord.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COMPETITIVE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Moqawil vs. the market (2026)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54480"/>
          <a:ext cx="110642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Moqawil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Hisab.ma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Auto-Entrepreneur.ma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ClicPaie.ma</a:t>
                      </a:r>
                    </a:p>
                  </a:txBody>
                  <a:tcPr anchor="ctr">
                    <a:solidFill>
                      <a:srgbClr val="0F766E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Open source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AGPL-3.0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Free (self-host)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149+ MAD/mo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Templates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80K per-client cap tracker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 live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Quarterly declaration generator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Annual threshold alerts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Self-hostable (Docker)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</a:rPr>
                        <a:t>✗ SaaS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Bilingual FR/AR RTL UI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</a:rPr>
                        <a:t>Foreign invoicing + BAM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A4D47"/>
                          </a:solidFill>
                        </a:rPr>
                        <a:t>✓</a:t>
                      </a:r>
                    </a:p>
                  </a:txBody>
                  <a:tcPr anchor="ctr">
                    <a:solidFill>
                      <a:srgbClr val="E4F2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555555"/>
                          </a:solidFill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Bilingual by design — FR ↔ AR (RTL) in one click</a:t>
            </a:r>
          </a:p>
        </p:txBody>
      </p:sp>
      <p:pic>
        <p:nvPicPr>
          <p:cNvPr id="5" name="Picture 4" descr="04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dashboard-arabic-r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55555"/>
                </a:solidFill>
                <a:latin typeface="Calibri"/>
              </a:rPr>
              <a:t>Tableau de bord — Français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 i="0">
                <a:solidFill>
                  <a:srgbClr val="555555"/>
                </a:solidFill>
                <a:latin typeface="Calibri"/>
              </a:rPr>
              <a:t>لوحة القيادة — العربية (RTL)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80K cap, visible everywhere — and enforced when it matters</a:t>
            </a:r>
          </a:p>
        </p:txBody>
      </p:sp>
      <p:pic>
        <p:nvPicPr>
          <p:cNvPr id="5" name="Picture 4" descr="10-client-detail-cap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1-cap-over-limi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Fiche client — badge de plafond en temps réel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Dialogue bloquant en cas de dépassement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PRODUCT TOUR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From invoice to quarterly declaration, without leaving the browser</a:t>
            </a:r>
          </a:p>
        </p:txBody>
      </p:sp>
      <p:pic>
        <p:nvPicPr>
          <p:cNvPr id="5" name="Picture 4" descr="12-invoice-new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120640" cy="2880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9-declarations-gener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554480"/>
            <a:ext cx="5120640" cy="28803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35039" y="1554479"/>
            <a:ext cx="5120642" cy="2880362"/>
          </a:xfrm>
          <a:prstGeom prst="rect">
            <a:avLst/>
          </a:prstGeom>
          <a:noFill/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Création de facture conforme (Article 145)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806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Déclaration trimestrielle pré-remplie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FOR THE ENGINEER IN THE ROOM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stack you already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Next.js 15 — App Router, Server Actions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TypeScript, strict mode everywhere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PostgreSQL 16 + Drizzle ORM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Auth.js v5 (Google OAuth + magic link)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Tailwind CSS v4 + shadcn/ui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Playwright (e2e) + Vitest (unit), Biome (lint)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Docker Compose + Caddy — one command to self-host</a:t>
            </a:r>
          </a:p>
          <a:p>
            <a:pPr algn="l">
              <a:spcAft>
                <a:spcPts val="16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CI: lint, typecheck, unit, Semgrep, Trivy, Gitleaks, e2e — all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A4D47"/>
                </a:solidFill>
                <a:latin typeface="Calibri"/>
              </a:rPr>
              <a:t>The tax-rule engine ships separately under Apache-2.0 — pure functions, zero I/O, so any Moroccan dev can embed it in their own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MODÈLE — FR / 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Open-core, pas open-washing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Application (apps/web) : AGPL-3.0 — gratuite, auto-hébergeable, pour toujours. Toute modification distribuée doit rester ouverte.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Moteur fiscal (packages/tax-engine) : Apache-2.0 — librement embarquable par d'autres outils marocains. C'est notre carte de visite auprès des devs.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Cloud managé (post-lancement) : hébergement clé-en-main, sauvegardes, support — payant, optionnel, jamais requis pour utiliser le produit.</a:t>
            </a:r>
          </a:p>
          <a:p>
            <a:pPr algn="l">
              <a:spcAft>
                <a:spcPts val="1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EN — This is the same model that made GitLab, Mattermost and Supabase durable businesses: give away the core, monetize the convenience.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علاش مفتوح المصدر؟ — بالدارجة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الثقة كتبنى بالكود، ماشي بالمصداقية غير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الكود ديال مقاول مفتوح لكلشي — أي واحد يقدر يشوفو، يڤيريفيه، حتى يبدلو.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ماكاينش 'تراست مي' — كاين الكود قدامك، خدمة بلا سر.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غادي يبقا فري للأبد — حتى إلا بغينا نديرو خدمة كلاود، الأساس ديال التطبيق ما غاديش يتسد. •</a:t>
            </a:r>
          </a:p>
          <a:p>
            <a:pPr algn="r" rtl="1">
              <a:spcAft>
                <a:spcPts val="1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هاد الموديل خدم مزيان مع مشاريع كبيرة بحال GitLab و Supabase — عطي الأساس فري، بيع الراحة. 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FE8E5"/>
                </a:solidFill>
                <a:latin typeface="Calibri"/>
              </a:rPr>
              <a:t>ROADMAP — ENGLISH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Shipped, and 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>
                <a:solidFill>
                  <a:srgbClr val="1E8A4C"/>
                </a:solidFill>
                <a:latin typeface="Calibri"/>
              </a:rPr>
              <a:t>• v0.1 (shipped): compliant invoicing, live 80K cap tracker, annual threshold alerts, quarterly declaration generator, bilingual FR/AR RTL UI, one-command Docker self-host.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In progress: DGI e-invoicing readiness — UBL 2.1 XML export per invoice.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Next: accountant multi-client dashboard, quote (devis) management, mobile PWA.</a:t>
            </a:r>
          </a:p>
          <a:p>
            <a:pPr algn="l">
              <a:spcAft>
                <a:spcPts val="1400"/>
              </a:spcAft>
            </a:pPr>
            <a:r>
              <a:rPr sz="1700">
                <a:solidFill>
                  <a:srgbClr val="1A1A1A"/>
                </a:solidFill>
                <a:latin typeface="Calibri"/>
              </a:rPr>
              <a:t>• Distribution: r/Maroc, r/MoroccanDevs, "Auto-entrepreneurs Maroc" FB group (~90K members), chartered-accountant endorsements, Show HN.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moqawil.ma (à venir) · github.com/moqawil/moqawil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572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Ask · La demande · الطلب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[FR]  Utilise Moqawil si tu factures en freelance — c'est fait pour toi.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461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1800">
                <a:solidFill>
                  <a:srgbClr val="FFFFFF"/>
                </a:solidFill>
              </a:rPr>
              <a:t>[EN]  Contribute — it's your stack (TypeScript, Next.js). PRs, issues, reviews all welcome.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846320"/>
            <a:ext cx="10698480" cy="1371600"/>
          </a:xfrm>
          <a:prstGeom prst="roundRect">
            <a:avLst/>
          </a:prstGeom>
          <a:solidFill>
            <a:srgbClr val="145C56"/>
          </a:solidFill>
          <a:ln w="12700">
            <a:solidFill>
              <a:srgbClr val="2A8A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r" rtl="1"/>
            <a:r>
              <a:rPr sz="1800">
                <a:solidFill>
                  <a:srgbClr val="FFFFFF"/>
                </a:solidFill>
              </a:rPr>
              <a:t>عرفي بيه صحابك الفريلانسرز، ولا كونتريبيوطي فالكود — نتا مبرمجة، هاد الدومين ديالك.  [دارجة]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Moqawil — github.com/moqawil/moqawil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D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37744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Chokrane. Merci. 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2918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400" b="0" i="0">
                <a:solidFill>
                  <a:srgbClr val="CFE8E5"/>
                </a:solidFill>
                <a:latin typeface="Calibri"/>
              </a:rPr>
              <a:t>شكراً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D8D4"/>
                </a:solidFill>
                <a:latin typeface="Calibri"/>
              </a:rPr>
              <a:t>github.com/moqawil/moqawil  ·  AGPL-3.0  ·  Built for the ~400,000 Moroccans who deserve better tools.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